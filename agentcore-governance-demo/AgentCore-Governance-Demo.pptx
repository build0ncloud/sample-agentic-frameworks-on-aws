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Governed AI Agent on Amazon Bedrock AgentCore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9900"/>
                </a:solidFill>
                <a:latin typeface="Calibri"/>
              </a:rPr>
              <a:t>One agent · one gateway · four identities · governance enforced per-principal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25880"/>
            <a:ext cx="2423160" cy="4343400"/>
          </a:xfrm>
          <a:prstGeom prst="roundRect">
            <a:avLst/>
          </a:prstGeom>
          <a:solidFill>
            <a:srgbClr val="F2F4F6"/>
          </a:solidFill>
          <a:ln w="12700">
            <a:solidFill>
              <a:srgbClr val="5A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24231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232F3E"/>
                </a:solidFill>
                <a:latin typeface="Calibri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09928"/>
            <a:ext cx="242316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A6370"/>
                </a:solidFill>
                <a:latin typeface="Calibri"/>
              </a:rPr>
              <a:t>logs in as 1 of 4 personas (IAM role)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103120"/>
            <a:ext cx="2148840" cy="749808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D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2940" y="2249424"/>
            <a:ext cx="192024" cy="192024"/>
          </a:xfrm>
          <a:prstGeom prst="ellipse">
            <a:avLst/>
          </a:prstGeom>
          <a:solidFill>
            <a:srgbClr val="1D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478024"/>
            <a:ext cx="420624" cy="228600"/>
          </a:xfrm>
          <a:prstGeom prst="roundRect">
            <a:avLst/>
          </a:prstGeom>
          <a:solidFill>
            <a:srgbClr val="1D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194560"/>
            <a:ext cx="15087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1D8A3F"/>
                </a:solidFill>
                <a:latin typeface="Calibri"/>
              </a:rPr>
              <a:t>Clinician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505456"/>
            <a:ext cx="1508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5A6370"/>
                </a:solidFill>
                <a:latin typeface="Calibri"/>
              </a:rPr>
              <a:t>PII access · no Jira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962656"/>
            <a:ext cx="2148840" cy="749808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2940" y="3108960"/>
            <a:ext cx="192024" cy="192024"/>
          </a:xfrm>
          <a:prstGeom prst="ellipse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337560"/>
            <a:ext cx="420624" cy="228600"/>
          </a:xfrm>
          <a:prstGeom prst="round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054096"/>
            <a:ext cx="15087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146EB4"/>
                </a:solidFill>
                <a:latin typeface="Calibri"/>
              </a:rPr>
              <a:t>Dev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364992"/>
            <a:ext cx="1508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5A6370"/>
                </a:solidFill>
                <a:latin typeface="Calibri"/>
              </a:rPr>
              <a:t>GitHub · Jira · Web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822192"/>
            <a:ext cx="2148840" cy="749808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" y="3968496"/>
            <a:ext cx="192024" cy="19202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197096"/>
            <a:ext cx="420624" cy="22860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913632"/>
            <a:ext cx="15087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9900"/>
                </a:solidFill>
                <a:latin typeface="Calibri"/>
              </a:rPr>
              <a:t>Auditor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224528"/>
            <a:ext cx="1508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5A6370"/>
                </a:solidFill>
                <a:latin typeface="Calibri"/>
              </a:rPr>
              <a:t>Read-only · PII filtered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681728"/>
            <a:ext cx="2148840" cy="749808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5A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2940" y="4828032"/>
            <a:ext cx="192024" cy="192024"/>
          </a:xfrm>
          <a:prstGeom prst="ellipse">
            <a:avLst/>
          </a:prstGeom>
          <a:solidFill>
            <a:srgbClr val="5A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5056632"/>
            <a:ext cx="420624" cy="228600"/>
          </a:xfrm>
          <a:prstGeom prst="roundRect">
            <a:avLst/>
          </a:prstGeom>
          <a:solidFill>
            <a:srgbClr val="5A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773168"/>
            <a:ext cx="15087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5A6370"/>
                </a:solidFill>
                <a:latin typeface="Calibri"/>
              </a:rPr>
              <a:t>Public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84064"/>
            <a:ext cx="1508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5A6370"/>
                </a:solidFill>
                <a:latin typeface="Calibri"/>
              </a:rPr>
              <a:t>Web search only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761488" y="3241548"/>
            <a:ext cx="411480" cy="502920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24328" y="2948940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850" b="1">
                <a:solidFill>
                  <a:srgbClr val="FF9900"/>
                </a:solidFill>
                <a:latin typeface="Calibri"/>
              </a:rPr>
              <a:t>SSH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46120" y="1325880"/>
            <a:ext cx="2331720" cy="4343400"/>
          </a:xfrm>
          <a:prstGeom prst="roundRect">
            <a:avLst/>
          </a:prstGeom>
          <a:solidFill>
            <a:srgbClr val="EAF2FB"/>
          </a:solidFill>
          <a:ln w="22225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46120" y="1554480"/>
            <a:ext cx="23317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232F3E"/>
                </a:solidFill>
                <a:latin typeface="Calibri"/>
              </a:rPr>
              <a:t>Personal AI
Assistant Agent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69080" y="2560320"/>
            <a:ext cx="685800" cy="685800"/>
          </a:xfrm>
          <a:prstGeom prst="round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9080" y="2697480"/>
            <a:ext cx="685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3474720"/>
            <a:ext cx="214884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5A6370"/>
                </a:solidFill>
                <a:latin typeface="Calibri"/>
              </a:rPr>
              <a:t>Claude Code on</a:t>
            </a:r>
          </a:p>
          <a:p>
            <a:pPr algn="ctr"/>
            <a:r>
              <a:rPr sz="1050" b="1">
                <a:solidFill>
                  <a:srgbClr val="5A6370"/>
                </a:solidFill>
                <a:latin typeface="Calibri"/>
              </a:rPr>
              <a:t>AgentCore Runtime</a:t>
            </a:r>
          </a:p>
          <a:p>
            <a:pPr algn="ctr"/>
            <a:r>
              <a:rPr sz="600" b="0">
                <a:solidFill>
                  <a:srgbClr val="5A6370"/>
                </a:solidFill>
                <a:latin typeface="Calibri"/>
              </a:rPr>
              <a:t/>
            </a:r>
          </a:p>
          <a:p>
            <a:pPr algn="ctr"/>
            <a:r>
              <a:rPr sz="900" b="0">
                <a:solidFill>
                  <a:srgbClr val="5A6370"/>
                </a:solidFill>
                <a:latin typeface="Calibri"/>
              </a:rPr>
              <a:t>• 4 runtimes (1 per persona)</a:t>
            </a:r>
          </a:p>
          <a:p>
            <a:pPr algn="ctr"/>
            <a:r>
              <a:rPr sz="900" b="0">
                <a:solidFill>
                  <a:srgbClr val="5A6370"/>
                </a:solidFill>
                <a:latin typeface="Calibri"/>
              </a:rPr>
              <a:t>• Same container image</a:t>
            </a:r>
          </a:p>
          <a:p>
            <a:pPr algn="ctr"/>
            <a:r>
              <a:rPr sz="900" b="0">
                <a:solidFill>
                  <a:srgbClr val="5A6370"/>
                </a:solidFill>
                <a:latin typeface="Calibri"/>
              </a:rPr>
              <a:t>• Bedrock model inference</a:t>
            </a:r>
          </a:p>
          <a:p>
            <a:pPr algn="ctr"/>
            <a:r>
              <a:rPr sz="900" b="0">
                <a:solidFill>
                  <a:srgbClr val="5A6370"/>
                </a:solidFill>
                <a:latin typeface="Calibri"/>
              </a:rPr>
              <a:t>• MCP Gateway Proxy (SigV4)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641848" y="3241548"/>
            <a:ext cx="411480" cy="502920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04688" y="2948940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850" b="1">
                <a:solidFill>
                  <a:srgbClr val="FF9900"/>
                </a:solidFill>
                <a:latin typeface="Calibri"/>
              </a:rPr>
              <a:t>MCP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1325880"/>
            <a:ext cx="3063240" cy="4343400"/>
          </a:xfrm>
          <a:prstGeom prst="roundRect">
            <a:avLst/>
          </a:prstGeom>
          <a:solidFill>
            <a:srgbClr val="232F3E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1435608"/>
            <a:ext cx="3063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AgentCore Gateway  (IAM Auth)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1892808"/>
            <a:ext cx="27889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1984248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>
                <a:solidFill>
                  <a:srgbClr val="1D8A3F"/>
                </a:solidFill>
                <a:latin typeface="Calibri"/>
              </a:rPr>
              <a:t>1 · Cedar Policy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3368" y="2350008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0"/>
                </a:solidFill>
                <a:latin typeface="Calibri"/>
              </a:rPr>
              <a:t>WHO can call WHICH tools (deterministic, default-deny)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3099816"/>
            <a:ext cx="27889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3368" y="3191256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>
                <a:solidFill>
                  <a:srgbClr val="FF9900"/>
                </a:solidFill>
                <a:latin typeface="Calibri"/>
              </a:rPr>
              <a:t>2 · Interceptor + Guardrails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3368" y="3557016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0"/>
                </a:solidFill>
                <a:latin typeface="Calibri"/>
              </a:rPr>
              <a:t>Per-persona content filtering (PII, medical, hate, politics)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4306824"/>
            <a:ext cx="27889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73368" y="4398264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>
                <a:solidFill>
                  <a:srgbClr val="146EB4"/>
                </a:solidFill>
                <a:latin typeface="Calibri"/>
              </a:rPr>
              <a:t>3 · Tool Catalog (per-principal)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3368" y="4764024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0"/>
                </a:solidFill>
                <a:latin typeface="Calibri"/>
              </a:rPr>
              <a:t>Agents only discover tools they may call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9253728" y="3241548"/>
            <a:ext cx="411480" cy="502920"/>
          </a:xfrm>
          <a:prstGeom prst="rightArrow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16568" y="2948940"/>
            <a:ext cx="685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850" b="1">
                <a:solidFill>
                  <a:srgbClr val="FF9900"/>
                </a:solidFill>
                <a:latin typeface="Calibri"/>
              </a:rPr>
              <a:t>MCP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38360" y="1325880"/>
            <a:ext cx="2286000" cy="4343400"/>
          </a:xfrm>
          <a:prstGeom prst="roundRect">
            <a:avLst/>
          </a:prstGeom>
          <a:solidFill>
            <a:srgbClr val="F2F4F6"/>
          </a:solidFill>
          <a:ln w="12700">
            <a:solidFill>
              <a:srgbClr val="5A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60" y="1417320"/>
            <a:ext cx="22860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232F3E"/>
                </a:solidFill>
                <a:latin typeface="Calibri"/>
              </a:rPr>
              <a:t>Gateway Targets (MCP)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75520" y="1874520"/>
            <a:ext cx="20116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85248" y="19842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232F3E"/>
                </a:solidFill>
                <a:latin typeface="Calibri"/>
              </a:rPr>
              <a:t>GitHub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85248" y="233172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0"/>
                </a:solidFill>
                <a:latin typeface="Calibri"/>
              </a:rPr>
              <a:t>13 tools · GitHub App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75520" y="2788920"/>
            <a:ext cx="20116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85248" y="28986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232F3E"/>
                </a:solidFill>
                <a:latin typeface="Calibri"/>
              </a:rPr>
              <a:t>Jira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85248" y="324612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0"/>
                </a:solidFill>
                <a:latin typeface="Calibri"/>
              </a:rPr>
              <a:t>8 tools · Runtime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875520" y="3703320"/>
            <a:ext cx="20116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85248" y="38130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232F3E"/>
                </a:solidFill>
                <a:latin typeface="Calibri"/>
              </a:rPr>
              <a:t>Medical Records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85248" y="416052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  <a:latin typeface="Calibri"/>
              </a:rPr>
              <a:t>7 tools · DynamoDB PII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875520" y="4617720"/>
            <a:ext cx="20116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85248" y="4727448"/>
            <a:ext cx="1828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232F3E"/>
                </a:solidFill>
                <a:latin typeface="Calibri"/>
              </a:rPr>
              <a:t>Tavily Web Search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85248" y="507492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A6370"/>
                </a:solidFill>
                <a:latin typeface="Calibri"/>
              </a:rPr>
              <a:t>5 tools · External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" y="5806440"/>
            <a:ext cx="11750040" cy="658368"/>
          </a:xfrm>
          <a:prstGeom prst="roundRect">
            <a:avLst/>
          </a:prstGeom>
          <a:solidFill>
            <a:srgbClr val="FBF0E1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5879592"/>
            <a:ext cx="25603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32F3E"/>
                </a:solidFill>
                <a:latin typeface="Calibri"/>
              </a:rPr>
              <a:t>Network Security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17520" y="5861304"/>
            <a:ext cx="88696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50" b="0">
                <a:solidFill>
                  <a:srgbClr val="5A6370"/>
                </a:solidFill>
                <a:latin typeface="Calibri"/>
              </a:rPr>
              <a:t>VPC + private subnets · PrivateLink endpoints (Gateway, Bedrock, AgentCore) · Security Group limits outbound to VPC endpoints + NFS + DNS</a:t>
            </a:r>
          </a:p>
          <a:p>
            <a:pPr algn="l"/>
            <a:r>
              <a:rPr sz="950" b="1">
                <a:solidFill>
                  <a:srgbClr val="C0392B"/>
                </a:solidFill>
                <a:latin typeface="Calibri"/>
              </a:rPr>
              <a:t>Result: the agent cannot load rogue MCP servers from the internet — it can only reach the governed gateway.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6510528"/>
            <a:ext cx="11750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0">
                <a:solidFill>
                  <a:srgbClr val="5A6370"/>
                </a:solidFill>
                <a:latin typeface="Calibri"/>
              </a:rPr>
              <a:t>Flow:  User (as persona) → SSH session → Personal AI Assistant Agent → AgentCore Gateway (Policy + Guardrails filter per-persona) → Target MCP servers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Personas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"/>
            <a:ext cx="114300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9900"/>
                </a:solidFill>
                <a:latin typeface="Calibri"/>
              </a:rPr>
              <a:t>Same agent, same tools — access and content controlled by the caller's identity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11567160" cy="4572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19202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Persona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3716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Medical (PII)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3716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1371600"/>
            <a:ext cx="13716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Jira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371600"/>
            <a:ext cx="15544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Web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371600"/>
            <a:ext cx="35204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Governing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28800"/>
            <a:ext cx="11567160" cy="960120"/>
          </a:xfrm>
          <a:prstGeom prst="rect">
            <a:avLst/>
          </a:prstGeom>
          <a:solidFill>
            <a:srgbClr val="F2F4F6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029968"/>
            <a:ext cx="1645920" cy="548640"/>
          </a:xfrm>
          <a:prstGeom prst="roundRect">
            <a:avLst/>
          </a:prstGeom>
          <a:solidFill>
            <a:srgbClr val="1D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29968"/>
            <a:ext cx="16459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Clinician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1828800"/>
            <a:ext cx="182880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1D8A3F"/>
                </a:solidFill>
                <a:latin typeface="Calibri"/>
              </a:rPr>
              <a:t>✔  PII visible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1828800"/>
            <a:ext cx="137160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1D8A3F"/>
                </a:solidFill>
                <a:latin typeface="Calibri"/>
              </a:rPr>
              <a:t>✔  Full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1828800"/>
            <a:ext cx="137160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C0392B"/>
                </a:solidFill>
                <a:latin typeface="Calibri"/>
              </a:rPr>
              <a:t>✘  Denied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1828800"/>
            <a:ext cx="15544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1D8A3F"/>
                </a:solidFill>
                <a:latin typeface="Calibri"/>
              </a:rPr>
              <a:t>✔  Full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828800"/>
            <a:ext cx="33832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A6370"/>
                </a:solidFill>
                <a:latin typeface="Calibri"/>
              </a:rPr>
              <a:t>Policy: allow all, forbid Jira · Guardrail: permissive (blocks hate/politics)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788920"/>
            <a:ext cx="11567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2990088"/>
            <a:ext cx="1645920" cy="548640"/>
          </a:xfrm>
          <a:prstGeom prst="roundRect">
            <a:avLst/>
          </a:prstGeom>
          <a:solidFill>
            <a:srgbClr val="146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90088"/>
            <a:ext cx="16459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2788920"/>
            <a:ext cx="182880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C0392B"/>
                </a:solidFill>
                <a:latin typeface="Calibri"/>
              </a:rPr>
              <a:t>✘  Denied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2788920"/>
            <a:ext cx="137160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1D8A3F"/>
                </a:solidFill>
                <a:latin typeface="Calibri"/>
              </a:rPr>
              <a:t>✔  Full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2788920"/>
            <a:ext cx="137160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1D8A3F"/>
                </a:solidFill>
                <a:latin typeface="Calibri"/>
              </a:rPr>
              <a:t>✔  Full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788920"/>
            <a:ext cx="15544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1D8A3F"/>
                </a:solidFill>
                <a:latin typeface="Calibri"/>
              </a:rPr>
              <a:t>✔  Full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788920"/>
            <a:ext cx="33832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A6370"/>
                </a:solidFill>
                <a:latin typeface="Calibri"/>
              </a:rPr>
              <a:t>Policy: no medical tools (hidden from catalog)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749040"/>
            <a:ext cx="11567160" cy="960120"/>
          </a:xfrm>
          <a:prstGeom prst="rect">
            <a:avLst/>
          </a:prstGeom>
          <a:solidFill>
            <a:srgbClr val="F2F4F6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3950208"/>
            <a:ext cx="1645920" cy="54864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950208"/>
            <a:ext cx="16459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Auditor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3749040"/>
            <a:ext cx="182880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C0392B"/>
                </a:solidFill>
                <a:latin typeface="Calibri"/>
              </a:rPr>
              <a:t>✘  PII blocked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3749040"/>
            <a:ext cx="137160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1D8A3F"/>
                </a:solidFill>
                <a:latin typeface="Calibri"/>
              </a:rPr>
              <a:t>✔  Read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3749040"/>
            <a:ext cx="137160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1D8A3F"/>
                </a:solidFill>
                <a:latin typeface="Calibri"/>
              </a:rPr>
              <a:t>✔  Read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749040"/>
            <a:ext cx="15544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1D8A3F"/>
                </a:solidFill>
                <a:latin typeface="Calibri"/>
              </a:rPr>
              <a:t>✔  Search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3749040"/>
            <a:ext cx="33832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A6370"/>
                </a:solidFill>
                <a:latin typeface="Calibri"/>
              </a:rPr>
              <a:t>Policy: read-only · Guardrail: restrictive (blocks PII + medical)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709160"/>
            <a:ext cx="11567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7200" y="4910328"/>
            <a:ext cx="1645920" cy="548640"/>
          </a:xfrm>
          <a:prstGeom prst="roundRect">
            <a:avLst/>
          </a:prstGeom>
          <a:solidFill>
            <a:srgbClr val="5A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910328"/>
            <a:ext cx="16459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Public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0280" y="4709160"/>
            <a:ext cx="182880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C0392B"/>
                </a:solidFill>
                <a:latin typeface="Calibri"/>
              </a:rPr>
              <a:t>✘  Denied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9080" y="4709160"/>
            <a:ext cx="137160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C0392B"/>
                </a:solidFill>
                <a:latin typeface="Calibri"/>
              </a:rPr>
              <a:t>✘  Denied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40680" y="4709160"/>
            <a:ext cx="137160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C0392B"/>
                </a:solidFill>
                <a:latin typeface="Calibri"/>
              </a:rPr>
              <a:t>✘  Denied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709160"/>
            <a:ext cx="15544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50" b="1">
                <a:solidFill>
                  <a:srgbClr val="1D8A3F"/>
                </a:solidFill>
                <a:latin typeface="Calibri"/>
              </a:rPr>
              <a:t>✔  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709160"/>
            <a:ext cx="33832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A6370"/>
                </a:solidFill>
                <a:latin typeface="Calibri"/>
              </a:rPr>
              <a:t>Policy: tavily_search only (all else default-deny)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" y="5806440"/>
            <a:ext cx="11567160" cy="868680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4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32F3E"/>
                </a:solidFill>
                <a:latin typeface="Calibri"/>
              </a:rPr>
              <a:t>The key moment:  Clinician and Auditor issue the SAME request for PAT-001's SSN.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245352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A6370"/>
                </a:solidFill>
                <a:latin typeface="Calibri"/>
              </a:rPr>
              <a:t>Clinician sees the full record · Auditor's PII is stripped by Guardrails — same tool, same data, different governance outcome.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